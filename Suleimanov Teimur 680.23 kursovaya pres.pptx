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DM Sans Medium"/>
      <p:regular r:id="rId13"/>
    </p:embeddedFont>
    <p:embeddedFont>
      <p:font typeface="DM Sans Medium"/>
      <p:regular r:id="rId14"/>
    </p:embeddedFont>
    <p:embeddedFont>
      <p:font typeface="DM Sans Medium"/>
      <p:regular r:id="rId15"/>
    </p:embeddedFont>
    <p:embeddedFont>
      <p:font typeface="DM Sans Medium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Начнём с основы нашей дизайн-системы — CSS-переменных, которые мы определили в :root
• Все элементы дизайна вынесены в токены: цвета, тени, скругления, переходы. Это гарантирует консистентность по всему проекту и упрощает будущие изменения
• Основная палитра построена на двух фирменных цветах: тёмно-синий navy (#0f1f3d) и золотой gold (#b8963e). Добавляем к ним cream для нейтральности
• По теням у нас четыре уровня — от лёгких (sm) до глубоких (xl) — для создания иерархии и глубины
• Типографика: используем Cormorant Garamond для элегантных serif-заголовков и Jost для чистого sans-serif текста
• Адаптивность встроена с самого начала — три ключевых breakpoint'а для мобильных, планшетов и десктопов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21022"/>
            <a:ext cx="5001890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ВояжСервис — Туристический портал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7336" y="784845"/>
            <a:ext cx="748925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Обзор ключевых технических решений: архитектура фронтенда на </a:t>
            </a:r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HTML, CSS и JavaScript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для современного туристического сайта с адаптивным дизайном, анимациями и интерактивными компонентами.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336" y="1184895"/>
            <a:ext cx="7489254" cy="36375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0840" y="371698"/>
            <a:ext cx="3071068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CSS: Дизайн-система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10840" y="981521"/>
            <a:ext cx="1611213" cy="192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Дизайн-токены (</a:t>
            </a:r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:root</a:t>
            </a:r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)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10840" y="1271662"/>
            <a:ext cx="2303487" cy="858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цвета, тени, скругления и переходы вынесены в CSS-переменные. Это обеспечивает единообразие и лёгкость изменений во всём проекте.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0840" y="2239342"/>
            <a:ext cx="2303487" cy="787598"/>
          </a:xfrm>
          <a:prstGeom prst="roundRect">
            <a:avLst>
              <a:gd name="adj" fmla="val 2236"/>
            </a:avLst>
          </a:prstGeom>
          <a:solidFill>
            <a:srgbClr val="02234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91" y="2411909"/>
            <a:ext cx="146745" cy="1173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2287" y="2365846"/>
            <a:ext cx="1804690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Основная палитра: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--navy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(#0f1f3d) и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--gold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(#b8963e) — два фирменных цвета бренда.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005435" y="993651"/>
            <a:ext cx="2303487" cy="887239"/>
          </a:xfrm>
          <a:prstGeom prst="roundRect">
            <a:avLst>
              <a:gd name="adj" fmla="val 1985"/>
            </a:avLst>
          </a:prstGeom>
          <a:solidFill>
            <a:srgbClr val="2D3133"/>
          </a:solidFill>
          <a:ln w="14288">
            <a:solidFill>
              <a:srgbClr val="65696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37074" y="1125289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Цвета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137074" y="1405905"/>
            <a:ext cx="204021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navy, gold, cream — 3 базовых семейства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005435" y="1978075"/>
            <a:ext cx="2303487" cy="887239"/>
          </a:xfrm>
          <a:prstGeom prst="roundRect">
            <a:avLst>
              <a:gd name="adj" fmla="val 1985"/>
            </a:avLst>
          </a:prstGeom>
          <a:solidFill>
            <a:srgbClr val="2D3133"/>
          </a:solidFill>
          <a:ln w="14288">
            <a:solidFill>
              <a:srgbClr val="65696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137074" y="2109713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Тени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137074" y="2390329"/>
            <a:ext cx="204021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 / md / lg / xl — 4 уровня глубины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005435" y="2962498"/>
            <a:ext cx="2303487" cy="887239"/>
          </a:xfrm>
          <a:prstGeom prst="roundRect">
            <a:avLst>
              <a:gd name="adj" fmla="val 1985"/>
            </a:avLst>
          </a:prstGeom>
          <a:solidFill>
            <a:srgbClr val="2D3133"/>
          </a:solidFill>
          <a:ln w="14288">
            <a:solidFill>
              <a:srgbClr val="65696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137074" y="3094137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Типографика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137074" y="3374752"/>
            <a:ext cx="204021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Cormorant Garamond + Jost — serif + sans-serif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005435" y="3946922"/>
            <a:ext cx="2303487" cy="715566"/>
          </a:xfrm>
          <a:prstGeom prst="roundRect">
            <a:avLst>
              <a:gd name="adj" fmla="val 2461"/>
            </a:avLst>
          </a:prstGeom>
          <a:solidFill>
            <a:srgbClr val="2D3133"/>
          </a:solidFill>
          <a:ln w="14288">
            <a:solidFill>
              <a:srgbClr val="65696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137074" y="4078560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Адаптив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3137074" y="4359176"/>
            <a:ext cx="204021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Breakpoints: 1024px, 768px, 480px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6340"/>
            <a:ext cx="52162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CSS: Компоненты интерфейса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62844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2354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Навбар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0053"/>
            <a:ext cx="398725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Фиксированный, переход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transparent → scrolled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при прокрутке. Мобильное бургер-меню с анимацией.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562844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02354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Карточки туров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330053"/>
            <a:ext cx="3987329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Hover-эффект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translateY(-8px)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масштабирование изображения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scale(1.08)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бейджи категорий.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537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Прогресс-бары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843933"/>
            <a:ext cx="398725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Анимация ширины через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transition: width 1.4s ease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запуск при появлении в окне.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537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Аккордеон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843933"/>
            <a:ext cx="3987329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Плавное раскрытие через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max-height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 переходом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0.38s ease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81744"/>
            <a:ext cx="6249219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JavaScript: main.js — Анимации при прокрутке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1080641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Как это работает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50912" y="1340123"/>
            <a:ext cx="487278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прокрутке страницы вниз элементы плавно появляются — тексты, карточки, секции. Это реализовано через IntersectionObserver API, который отслеживает момент попадания элемента в область видимости браузера.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50912" y="1910730"/>
            <a:ext cx="4872782" cy="562868"/>
          </a:xfrm>
          <a:prstGeom prst="roundRect">
            <a:avLst>
              <a:gd name="adj" fmla="val 2952"/>
            </a:avLst>
          </a:prstGeom>
          <a:solidFill>
            <a:srgbClr val="02234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640" y="2071315"/>
            <a:ext cx="138410" cy="1107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0779" y="2024881"/>
            <a:ext cx="440218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IntersectionObserver срабатывает когда элемент пересекает порог видимости 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threshold: 0.15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то есть когда 15% элемента появилось в окне.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50912" y="2570931"/>
            <a:ext cx="4872782" cy="1956792"/>
          </a:xfrm>
          <a:prstGeom prst="roundRect">
            <a:avLst>
              <a:gd name="adj" fmla="val 849"/>
            </a:avLst>
          </a:prstGeom>
          <a:solidFill>
            <a:srgbClr val="3A3E40"/>
          </a:solidFill>
          <a:ln/>
        </p:spPr>
      </p:sp>
      <p:sp>
        <p:nvSpPr>
          <p:cNvPr id="9" name="Shape 6"/>
          <p:cNvSpPr/>
          <p:nvPr/>
        </p:nvSpPr>
        <p:spPr>
          <a:xfrm>
            <a:off x="745406" y="2570931"/>
            <a:ext cx="4883795" cy="1956792"/>
          </a:xfrm>
          <a:prstGeom prst="roundRect">
            <a:avLst>
              <a:gd name="adj" fmla="val 849"/>
            </a:avLst>
          </a:prstGeom>
          <a:solidFill>
            <a:srgbClr val="3A3E40"/>
          </a:solidFill>
          <a:ln/>
        </p:spPr>
      </p:sp>
      <p:sp>
        <p:nvSpPr>
          <p:cNvPr id="10" name="Text 7"/>
          <p:cNvSpPr/>
          <p:nvPr/>
        </p:nvSpPr>
        <p:spPr>
          <a:xfrm>
            <a:off x="883816" y="2681660"/>
            <a:ext cx="4606975" cy="173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observer = new IntersectionObserver((entries) =&gt; {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entries.forEach(entry =&gt; {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(entry.isIntersecting) {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entry.target.classList.add('visible');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observer.unobserve(entry.target);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}, { threshold: 0.15 });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document.querySelectorAll('.fade-up, .fade-in')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.forEach(el =&gt; observer.observe(el));</a:t>
            </a:r>
            <a:endParaRPr lang="en-US" sz="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8579" y="968797"/>
            <a:ext cx="110728" cy="1107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898579" y="1128861"/>
            <a:ext cx="2499122" cy="14288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3" name="Text 9"/>
          <p:cNvSpPr/>
          <p:nvPr/>
        </p:nvSpPr>
        <p:spPr>
          <a:xfrm>
            <a:off x="5898579" y="1212800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Навбар и меню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898579" y="1472282"/>
            <a:ext cx="2499122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Подсветка активной страницы, переход 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transparent → scrolled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при прокрутке, открытие мобильного бургер-меню с анимацией.</a:t>
            </a:r>
            <a:endParaRPr lang="en-US" sz="8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8579" y="2286670"/>
            <a:ext cx="110728" cy="11072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898579" y="2446734"/>
            <a:ext cx="2499122" cy="14288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7" name="Text 12"/>
          <p:cNvSpPr/>
          <p:nvPr/>
        </p:nvSpPr>
        <p:spPr>
          <a:xfrm>
            <a:off x="5898579" y="253067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Fade-up / Fade-in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898579" y="2790155"/>
            <a:ext cx="2499122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Классы 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.fade-up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(движение снизу вверх + появление) и 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.fade-in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(просто появление) добавляются через 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classList.add('visible')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при попадании в viewport.</a:t>
            </a:r>
            <a:endParaRPr lang="en-US" sz="8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98579" y="3604543"/>
            <a:ext cx="110728" cy="11072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898579" y="3764607"/>
            <a:ext cx="2499122" cy="14288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1" name="Text 15"/>
          <p:cNvSpPr/>
          <p:nvPr/>
        </p:nvSpPr>
        <p:spPr>
          <a:xfrm>
            <a:off x="5898579" y="3848546"/>
            <a:ext cx="146536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Параллакс hero-фона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898579" y="4108028"/>
            <a:ext cx="249912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прокрутке hero-секция смещается: 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backgroundPositionY = pageYOffset * 0.32 + 'px'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Создаёт эффект глубины.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3410"/>
            <a:ext cx="561863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JavaScript: services.js и system.js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699915"/>
            <a:ext cx="4004965" cy="1279996"/>
          </a:xfrm>
          <a:prstGeom prst="roundRect">
            <a:avLst>
              <a:gd name="adj" fmla="val 1661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18416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Фильтрация туров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148185"/>
            <a:ext cx="3721447" cy="689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Кнопки по категориям — карточки скрываются/показываются с анимацией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opacity + translateY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задержкой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 * 55ms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699915"/>
            <a:ext cx="4005039" cy="1279996"/>
          </a:xfrm>
          <a:prstGeom prst="roundRect">
            <a:avLst>
              <a:gd name="adj" fmla="val 1661"/>
            </a:avLst>
          </a:prstGeom>
          <a:solidFill>
            <a:srgbClr val="4C5052"/>
          </a:solidFill>
          <a:ln/>
        </p:spPr>
      </p:sp>
      <p:sp>
        <p:nvSpPr>
          <p:cNvPr id="7" name="Text 5"/>
          <p:cNvSpPr/>
          <p:nvPr/>
        </p:nvSpPr>
        <p:spPr>
          <a:xfrm>
            <a:off x="4784601" y="18416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Сортировка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4601" y="2148185"/>
            <a:ext cx="3721522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 цене (возр./убыв.), длительности и названию через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Array.sort()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localeCompare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для русского языка.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121670"/>
            <a:ext cx="4004965" cy="1048420"/>
          </a:xfrm>
          <a:prstGeom prst="roundRect">
            <a:avLst>
              <a:gd name="adj" fmla="val 2028"/>
            </a:avLst>
          </a:prstGeom>
          <a:solidFill>
            <a:srgbClr val="4C5052"/>
          </a:solidFill>
          <a:ln/>
        </p:spPr>
      </p:sp>
      <p:sp>
        <p:nvSpPr>
          <p:cNvPr id="10" name="Text 8"/>
          <p:cNvSpPr/>
          <p:nvPr/>
        </p:nvSpPr>
        <p:spPr>
          <a:xfrm>
            <a:off x="637877" y="32634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Табы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7877" y="3569940"/>
            <a:ext cx="3721447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Переключение панелей с CSS-анимацией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tab-fade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плавное появление активного контента.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3121670"/>
            <a:ext cx="4005039" cy="1048420"/>
          </a:xfrm>
          <a:prstGeom prst="roundRect">
            <a:avLst>
              <a:gd name="adj" fmla="val 2028"/>
            </a:avLst>
          </a:prstGeom>
          <a:solidFill>
            <a:srgbClr val="4C5052"/>
          </a:solidFill>
          <a:ln/>
        </p:spPr>
      </p:sp>
      <p:sp>
        <p:nvSpPr>
          <p:cNvPr id="13" name="Text 11"/>
          <p:cNvSpPr/>
          <p:nvPr/>
        </p:nvSpPr>
        <p:spPr>
          <a:xfrm>
            <a:off x="4784601" y="32634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Раскрытие деталей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4601" y="3569940"/>
            <a:ext cx="3721522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Кнопка «Подробнее» раскрывает скрытый блок через динамическое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maxHeight = scrollHeight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72145"/>
            <a:ext cx="6695629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JavaScript: contacts.js — Форма обратной связи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66" y="1556072"/>
            <a:ext cx="5067672" cy="22804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61440" y="1661064"/>
            <a:ext cx="886830" cy="137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Маска телефона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361440" y="1837090"/>
            <a:ext cx="886830" cy="198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 +7 (XXX) XXX-XX-XX, 8→7</a:t>
            </a:r>
            <a:endParaRPr lang="en-US" sz="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9076" y="2272053"/>
            <a:ext cx="196430" cy="1964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38525" y="3371378"/>
            <a:ext cx="891702" cy="13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Валидация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2238525" y="3547404"/>
            <a:ext cx="891702" cy="198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blur и input, проверка regex</a:t>
            </a:r>
            <a:endParaRPr lang="en-US" sz="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6161" y="2988339"/>
            <a:ext cx="196430" cy="1964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105863" y="1644009"/>
            <a:ext cx="886830" cy="137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Отправка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3105863" y="1820035"/>
            <a:ext cx="886830" cy="198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Симуляция запроса 1.8 сек</a:t>
            </a:r>
            <a:endParaRPr lang="en-US" sz="6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68117" y="2252563"/>
            <a:ext cx="196430" cy="19643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982948" y="3321737"/>
            <a:ext cx="886830" cy="13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Успех</a:t>
            </a:r>
            <a:endParaRPr lang="en-US" sz="850" dirty="0"/>
          </a:p>
        </p:txBody>
      </p:sp>
      <p:sp>
        <p:nvSpPr>
          <p:cNvPr id="14" name="Text 8"/>
          <p:cNvSpPr/>
          <p:nvPr/>
        </p:nvSpPr>
        <p:spPr>
          <a:xfrm>
            <a:off x="3982948" y="3497763"/>
            <a:ext cx="886830" cy="298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Показать сообщение об успешной отправке</a:t>
            </a:r>
            <a:endParaRPr lang="en-US" sz="6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30584" y="2988339"/>
            <a:ext cx="196430" cy="19643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8066" y="3941713"/>
            <a:ext cx="506767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цикл обработки формы — от ввода до подтверждения.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5951488" y="965969"/>
            <a:ext cx="145851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Ключевые механики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5937200" y="1236836"/>
            <a:ext cx="28575" cy="640779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9" name="Text 12"/>
          <p:cNvSpPr/>
          <p:nvPr/>
        </p:nvSpPr>
        <p:spPr>
          <a:xfrm>
            <a:off x="6095181" y="1251124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Маска телефона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6095181" y="1524595"/>
            <a:ext cx="2455366" cy="338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Автоформат 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+7 (XXX) XXX-XX-XX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замена «8» на «7».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5937200" y="2036192"/>
            <a:ext cx="28575" cy="636017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2" name="Text 15"/>
          <p:cNvSpPr/>
          <p:nvPr/>
        </p:nvSpPr>
        <p:spPr>
          <a:xfrm>
            <a:off x="6095181" y="2050479"/>
            <a:ext cx="228361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Валидация в реальном времени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095181" y="2323951"/>
            <a:ext cx="245536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email regex, минимум символов, полный номер телефона.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5937200" y="2830785"/>
            <a:ext cx="28575" cy="640779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5" name="Text 18"/>
          <p:cNvSpPr/>
          <p:nvPr/>
        </p:nvSpPr>
        <p:spPr>
          <a:xfrm>
            <a:off x="6095181" y="2845073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Состояния полей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6095181" y="3118545"/>
            <a:ext cx="2455366" cy="338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Классы 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.error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.valid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 визуальной подсветкой и текстом ошибки.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5951488" y="3562499"/>
            <a:ext cx="2599060" cy="1103635"/>
          </a:xfrm>
          <a:prstGeom prst="roundRect">
            <a:avLst>
              <a:gd name="adj" fmla="val 1566"/>
            </a:avLst>
          </a:prstGeom>
          <a:solidFill>
            <a:srgbClr val="183A13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6606" y="3729410"/>
            <a:ext cx="143917" cy="115119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325642" y="3684761"/>
            <a:ext cx="2109788" cy="83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успешной отправки форма скрывается, показывается блок 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#successMessage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Кнопка «Отправить снова» сбрасывает всё состояние.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2026-05-11T15:49:05Z</dcterms:created>
  <dcterms:modified xsi:type="dcterms:W3CDTF">2026-05-11T15:49:05Z</dcterms:modified>
</cp:coreProperties>
</file>